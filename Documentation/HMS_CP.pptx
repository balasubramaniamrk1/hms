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330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457200" cy="5143500"/>
          </a:xfrm>
          <a:prstGeom prst="rect">
            <a:avLst/>
          </a:prstGeom>
          <a:solidFill>
            <a:srgbClr val="1A6FA0"/>
          </a:solidFill>
          <a:ln w="12700">
            <a:solidFill>
              <a:srgbClr val="1A6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0" y="731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🏥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5836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HealthPlus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0" y="2423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</a:rPr>
              <a:t>Hospital Management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</a:rPr>
              <a:t>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3383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3657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D6F1"/>
                </a:solidFill>
              </a:rPr>
              <a:t>Modules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0" y="3383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3657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D6F1"/>
                </a:solidFill>
              </a:rPr>
              <a:t>Screens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321040" y="3383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3657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D6F1"/>
                </a:solidFill>
              </a:rPr>
              <a:t>Custom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CD4"/>
                </a:solidFill>
              </a:rPr>
              <a:t>SOFTWARE PROPOSAL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8229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HMS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57200" y="1783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ED6F1"/>
                </a:solidFill>
              </a:rPr>
              <a:t>Hospital Management System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2004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1460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0"/>
                </a:solidFill>
              </a:rPr>
              <a:t>A complete, integrated platform to manage every aspect of your hospital — appointments, clinical records, pharmacy, billing, inventory and more. Built on modern technology, ready for production.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0D213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Python / Django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3520440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0D213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PostgreSQL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98064" y="3520440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0D213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98064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HTMX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68496" y="3520440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0D213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68496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Docker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38928" y="3520440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0D213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AWS EC2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Prepared for Client Review  •  March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</a:rPr>
              <a:t>A structured walkthrough of the HealthPlus HMS proposal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38912" cy="7863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438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Executive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15910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What HMS is and the problems it solves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21408"/>
            <a:ext cx="438912" cy="7863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21408"/>
            <a:ext cx="438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6384" y="2212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System Modules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25237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All 10 modules at a glance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54096"/>
            <a:ext cx="438912" cy="7863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54096"/>
            <a:ext cx="438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" y="3145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Module Walkthroughs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" y="3456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Screen-by-screen feature demonstration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86784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86784"/>
            <a:ext cx="438912" cy="7863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86784"/>
            <a:ext cx="438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6384" y="40782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" y="43891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Backend, frontend, database &amp; infrastructure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188720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188720"/>
            <a:ext cx="438912" cy="7863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188720"/>
            <a:ext cx="438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21224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Pricing &amp; Packages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21224" y="15910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Starter, Professional, Enterprise tiers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121408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121408"/>
            <a:ext cx="438912" cy="7863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121408"/>
            <a:ext cx="438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21224" y="2212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Implementation Timeline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21224" y="25237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10-week phased delivery plan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054096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054096"/>
            <a:ext cx="438912" cy="7863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054096"/>
            <a:ext cx="438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21224" y="3145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21224" y="3456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How to get started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C3B"/>
          </a:solidFill>
          <a:ln w="12700">
            <a:solidFill>
              <a:srgbClr val="162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0"/>
                </a:solidFill>
              </a:rPr>
              <a:t>HealthPlus HMS is a fully-integrated, web-based hospital management platform built to replace fragmented, paper-based workflows with a single connected digital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011680" cy="269748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920240"/>
            <a:ext cx="201168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29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Complete 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ED6F1"/>
                </a:solidFill>
              </a:rPr>
              <a:t>Covers every hospital workflow — OPD, IPD, Pharmacy, Billing, Inventory and HR in one system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96312" y="1920240"/>
            <a:ext cx="2011680" cy="269748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1920240"/>
            <a:ext cx="201168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2029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87752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Role-Based 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9626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ED6F1"/>
                </a:solidFill>
              </a:rPr>
              <a:t>5 user roles — Admin, Doctors, Staff, Pharmacist, Inventory Manager — each with tailored dashboards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1920240"/>
            <a:ext cx="2011680" cy="269748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1920240"/>
            <a:ext cx="201168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2029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64024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Modern Tech Stack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4024" y="29626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ED6F1"/>
                </a:solidFill>
              </a:rPr>
              <a:t>Python/Django 5.2, PostgreSQL, HTMX, Docker, AWS EC2 — production-grade and future-proof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48856" y="1920240"/>
            <a:ext cx="2011680" cy="269748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48856" y="1920240"/>
            <a:ext cx="201168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2029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40296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Insights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0296" y="29626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ED6F1"/>
                </a:solidFill>
              </a:rPr>
              <a:t>Live dashboards, stock alerts, AMC expiry warnings, attendance logs and revenue reports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90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6EAF8"/>
                </a:solidFill>
              </a:rPr>
              <a:t>Functional Modules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651760" y="4690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51760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6EAF8"/>
                </a:solidFill>
              </a:rPr>
              <a:t>Database Tables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46320" y="4690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50+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6EAF8"/>
                </a:solidFill>
              </a:rPr>
              <a:t>Specialist Doctors Supported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040880" y="4690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24/7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4892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6EAF8"/>
                </a:solidFill>
              </a:rPr>
              <a:t>Emergency &amp; OPD Coverage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→ Our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3986784" cy="34747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77240"/>
            <a:ext cx="3986784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Common Challenges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777240"/>
            <a:ext cx="4315968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777240"/>
            <a:ext cx="4315968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HealthPlus HMS 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234440"/>
            <a:ext cx="3986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1380744"/>
            <a:ext cx="182880" cy="18288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380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2B21"/>
                </a:solidFill>
              </a:rPr>
              <a:t>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30759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Manual paper-based appointment books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43159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1380744"/>
            <a:ext cx="182880" cy="182880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380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82896" y="130759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Digital booking portal + staff dashboard with live queue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42816" y="1399032"/>
            <a:ext cx="274320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24528" y="13624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1760220"/>
            <a:ext cx="3986784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" y="1906524"/>
            <a:ext cx="182880" cy="18288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9065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2B21"/>
                </a:solidFill>
              </a:rPr>
              <a:t>✕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" y="183337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Patient records scattered across departments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760220"/>
            <a:ext cx="4315968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1906524"/>
            <a:ext cx="182880" cy="182880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9065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82896" y="183337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Unified patient registry (HMS-P-XXXX) linked across all modules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42816" y="1924812"/>
            <a:ext cx="274320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24528" y="18882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2286000"/>
            <a:ext cx="3986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" y="2432304"/>
            <a:ext cx="182880" cy="18288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432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2B21"/>
                </a:solidFill>
              </a:rPr>
              <a:t>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" y="23591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No real-time bed availability visibility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286000"/>
            <a:ext cx="43159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26864" y="2432304"/>
            <a:ext cx="182880" cy="182880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2432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82896" y="235915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Live IPD bed map with colour-coded status across all wards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42816" y="2450592"/>
            <a:ext cx="274320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24528" y="241401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</a:rPr>
              <a:t>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" y="2811780"/>
            <a:ext cx="3986784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0896" y="2958084"/>
            <a:ext cx="182880" cy="18288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" y="29580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2B21"/>
                </a:solidFill>
              </a:rPr>
              <a:t>✕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" y="28849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Pharmacy stock in spreadsheets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2811780"/>
            <a:ext cx="4315968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26864" y="2958084"/>
            <a:ext cx="182880" cy="182880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29580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82896" y="288493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Batch-level inventory with POS, expiry alerts &amp; purchase orders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42816" y="2976372"/>
            <a:ext cx="274320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24528" y="293979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</a:rPr>
              <a:t>→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6032" y="3337560"/>
            <a:ext cx="3986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0896" y="3483864"/>
            <a:ext cx="182880" cy="18288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" y="3483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2B21"/>
                </a:solidFill>
              </a:rPr>
              <a:t>✕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6928" y="34107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No digital prescriptions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0" y="3337560"/>
            <a:ext cx="43159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6864" y="3483864"/>
            <a:ext cx="182880" cy="182880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26864" y="3483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</a:rPr>
              <a:t>✓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82896" y="341071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Doctor console with structured Rx + auto-generated PDF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42816" y="3502152"/>
            <a:ext cx="274320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24528" y="346557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</a:rPr>
              <a:t>→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56032" y="3863340"/>
            <a:ext cx="3986784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" y="4009644"/>
            <a:ext cx="182880" cy="18288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0896" y="40096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2B21"/>
                </a:solidFill>
              </a:rPr>
              <a:t>✕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6928" y="393649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Manual GST billing calculations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0" y="3863340"/>
            <a:ext cx="4315968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26864" y="4009644"/>
            <a:ext cx="182880" cy="182880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26864" y="40096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</a:rPr>
              <a:t>✓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882896" y="393649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Auto-invoicing with CGST/SGST split per line item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242816" y="4027932"/>
            <a:ext cx="274320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24528" y="39913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</a:rPr>
              <a:t>→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56032" y="4389120"/>
            <a:ext cx="3986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0896" y="4535424"/>
            <a:ext cx="182880" cy="18288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0896" y="45354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2B21"/>
                </a:solidFill>
              </a:rPr>
              <a:t>✕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66928" y="446227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Equipment with no lifecycle tracking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0" y="4389120"/>
            <a:ext cx="43159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26864" y="4535424"/>
            <a:ext cx="182880" cy="182880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26864" y="45354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</a:rPr>
              <a:t>✓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882896" y="446227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</a:rPr>
              <a:t>Inventory module: QR codes, AMC alerts, depreciation tracking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242816" y="4553712"/>
            <a:ext cx="274320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24528" y="45171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</a:rPr>
              <a:t>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C3B"/>
          </a:solidFill>
          <a:ln w="12700">
            <a:solidFill>
              <a:srgbClr val="162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1627632" cy="18288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1627632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698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Public Portal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89280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AED6F1"/>
                </a:solidFill>
              </a:rPr>
              <a:t>Landing page, doctor directory, health packages, blog, careers &amp; reviews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65960" y="960120"/>
            <a:ext cx="1627632" cy="18288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65960" y="960120"/>
            <a:ext cx="1627632" cy="64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0698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39112" y="15544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Appointments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39112" y="189280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AED6F1"/>
                </a:solidFill>
              </a:rPr>
              <a:t>Online booking form, token queue, check-in &amp; status management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30752" y="960120"/>
            <a:ext cx="1627632" cy="18288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30752" y="960120"/>
            <a:ext cx="1627632" cy="6400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10698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🩺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803904" y="15544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Doctor Console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03904" y="189280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AED6F1"/>
                </a:solidFill>
              </a:rPr>
              <a:t>Clinical notes, diagnosis, digital prescriptions &amp; PDF generation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95544" y="960120"/>
            <a:ext cx="1627632" cy="18288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95544" y="960120"/>
            <a:ext cx="1627632" cy="6400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95544" y="10698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🛏️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568696" y="15544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IPD Admissions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68696" y="189280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AED6F1"/>
                </a:solidFill>
              </a:rPr>
              <a:t>Ward/bed management, admission, discharge &amp; live bed status map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0336" y="960120"/>
            <a:ext cx="1627632" cy="18288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60336" y="960120"/>
            <a:ext cx="162763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0336" y="106984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333488" y="15544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Pharmacy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33488" y="189280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AED6F1"/>
                </a:solidFill>
              </a:rPr>
              <a:t>POS, medicine catalogue, batch stock, purchase orders &amp; returns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2990088"/>
            <a:ext cx="1627632" cy="18288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2990088"/>
            <a:ext cx="1627632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309981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274320" y="35844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Billing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" y="3922776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AED6F1"/>
                </a:solidFill>
              </a:rPr>
              <a:t>GST invoicing, CGST/SGST split, multiple payment modes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965960" y="2990088"/>
            <a:ext cx="1627632" cy="18288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965960" y="2990088"/>
            <a:ext cx="1627632" cy="640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65960" y="309981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039112" y="35844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Inventory &amp; AMC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039112" y="3922776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AED6F1"/>
                </a:solidFill>
              </a:rPr>
              <a:t>Equipment, QR codes, AMC alerts, vendor directory &amp; consumables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30752" y="2990088"/>
            <a:ext cx="1627632" cy="18288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30752" y="2990088"/>
            <a:ext cx="1627632" cy="64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30752" y="309981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3803904" y="35844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Staff Management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803904" y="3922776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AED6F1"/>
                </a:solidFill>
              </a:rPr>
              <a:t>Employee profiles, digital attendance clock-in/clock-out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95544" y="2990088"/>
            <a:ext cx="1627632" cy="18288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95544" y="2990088"/>
            <a:ext cx="1627632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5544" y="309981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📰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5568696" y="35844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Blog &amp; Reviews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568696" y="3922776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AED6F1"/>
                </a:solidFill>
              </a:rPr>
              <a:t>Health article publishing and patient testimonial display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60336" y="2990088"/>
            <a:ext cx="1627632" cy="18288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260336" y="2990088"/>
            <a:ext cx="1627632" cy="64008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60336" y="309981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7333488" y="35844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Admin &amp; Reports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333488" y="3922776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AED6F1"/>
                </a:solidFill>
              </a:rPr>
              <a:t>Django admin panel, reports dashboard &amp; user management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6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Walkthroughs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D6F1"/>
                </a:solidFill>
              </a:rPr>
              <a:t>Screen-by-screen feature demonstration for every module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Public Portal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Appointment System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Doctor Console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IPD Admissions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Pharmacy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Billing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Inventory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38160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Staff Mgmt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Central command centre — real-time hospital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9669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2064" y="9601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Live KPI cards: patients, beds, revenue, alerts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80744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3441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Today's appointment queue with status 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64792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64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17282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Colour-coded bed map across all wards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148840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148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" y="21122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AMC expiry warnings (yellow/red urgency)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532888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064" y="2496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Role-based redirect on login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1693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2064" y="28803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Quick access to all modules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164592"/>
            <a:ext cx="384048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2148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76088" y="2148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4104" y="2148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01168"/>
            <a:ext cx="301752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201168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healthplushms.com/dashboard</a:t>
            </a:r>
            <a:endParaRPr lang="en-US" sz="600" dirty="0"/>
          </a:p>
        </p:txBody>
      </p:sp>
      <p:pic>
        <p:nvPicPr>
          <p:cNvPr id="29" name="Image 0" descr="/home/claude/screenshots/01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65760"/>
            <a:ext cx="3840480" cy="455371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074920" y="164592"/>
            <a:ext cx="3840480" cy="47548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Patient Portal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Professional public website — patient's digital front door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9669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2064" y="9601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Modern hero section with CTA buttons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80744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3441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8 department service cards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64792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64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17282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Health packages with pricing &amp; inclusions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148840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148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" y="21122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Doctor directory with search &amp; filter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532888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064" y="2496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Featured doctor badges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1693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2064" y="28803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Blog, reviews &amp; career portal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164592"/>
            <a:ext cx="384048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2148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76088" y="2148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4104" y="2148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01168"/>
            <a:ext cx="301752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201168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healthplushms.com/home</a:t>
            </a:r>
            <a:endParaRPr lang="en-US" sz="600" dirty="0"/>
          </a:p>
        </p:txBody>
      </p:sp>
      <p:pic>
        <p:nvPicPr>
          <p:cNvPr id="29" name="Image 0" descr="/home/claude/screenshots/02_public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65760"/>
            <a:ext cx="3840480" cy="455371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074920" y="164592"/>
            <a:ext cx="3840480" cy="47548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Directory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Searchable &amp; filterable specialist doctor listing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9669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2064" y="9601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Filter by department / speciality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80744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3441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Search by doctor 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64792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64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17282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Photo, qualifications, experience per card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148840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148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" y="21122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⭐ Featured badge for highlighted doctors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532888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064" y="2496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Direct 'Book Appointment' on every card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1693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2064" y="28803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SEO-friendly slug-based URLs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164592"/>
            <a:ext cx="384048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2148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76088" y="2148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4104" y="2148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01168"/>
            <a:ext cx="301752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201168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healthplushms.com/doctors</a:t>
            </a:r>
            <a:endParaRPr lang="en-US" sz="600" dirty="0"/>
          </a:p>
        </p:txBody>
      </p:sp>
      <p:pic>
        <p:nvPicPr>
          <p:cNvPr id="29" name="Image 0" descr="/home/claude/screenshots/03_doctor_dir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65760"/>
            <a:ext cx="3840480" cy="455371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074920" y="164592"/>
            <a:ext cx="3840480" cy="47548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&amp; Reception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416052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" y="736092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73609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" y="736092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722376"/>
            <a:ext cx="333756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722376"/>
            <a:ext cx="3300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healthplushms.com/book</a:t>
            </a:r>
            <a:endParaRPr lang="en-US" sz="600" dirty="0"/>
          </a:p>
        </p:txBody>
      </p:sp>
      <p:pic>
        <p:nvPicPr>
          <p:cNvPr id="10" name="Image 0" descr="/home/claude/screenshots/04_appointment_boo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86968"/>
            <a:ext cx="4160520" cy="26791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28600" y="685800"/>
            <a:ext cx="4160520" cy="288036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" y="3584448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</a:rPr>
              <a:t>Public Booking Form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28600" y="380390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No registration needed — fills in under 60 seconds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0" y="685800"/>
            <a:ext cx="43434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5152" y="736092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73168" y="73609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01184" y="736092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20640" y="722376"/>
            <a:ext cx="352044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38928" y="722376"/>
            <a:ext cx="3483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healthplushms.com/reception</a:t>
            </a:r>
            <a:endParaRPr lang="en-US" sz="600" dirty="0"/>
          </a:p>
        </p:txBody>
      </p:sp>
      <p:pic>
        <p:nvPicPr>
          <p:cNvPr id="20" name="Image 1" descr="/home/claude/screenshots/05_staff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86968"/>
            <a:ext cx="4343400" cy="267919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572000" y="685800"/>
            <a:ext cx="4343400" cy="288036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0" y="3584448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</a:rPr>
              <a:t>Staff Reception Dashboard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0" y="3803904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Full queue with confirm, check-in, reschedule &amp; cancel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74320" y="413308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4320" y="41330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4F72"/>
                </a:solidFill>
              </a:rPr>
              <a:t>Token IDs Auto-Generated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1993392" y="413308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993392" y="41330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4F72"/>
                </a:solidFill>
              </a:rPr>
              <a:t>Daily Queue View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712464" y="413308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712464" y="41330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4F72"/>
                </a:solidFill>
              </a:rPr>
              <a:t>Status Badges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431536" y="413308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431536" y="41330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4F72"/>
                </a:solidFill>
              </a:rPr>
              <a:t>Walk-in Support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150608" y="413308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150608" y="41330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4F72"/>
                </a:solidFill>
              </a:rPr>
              <a:t>SMS-ready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Console &amp; Digital Consultation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Clinical workflow: notes, diagnosis &amp; digital prescription on one screen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99669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2064" y="9601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Personal queue showing doctor's own schedule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80744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3441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Clinical notes &amp; diagnosis fields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64792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64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17282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Structured prescription: dose, duration, instructions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148840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148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" y="21122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One-click PDF prescription generation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532888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064" y="2496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Pharmacy status: Pending → Dispensed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1693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2064" y="28803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Next visit date scheduling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164592"/>
            <a:ext cx="384048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2148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76088" y="2148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4104" y="2148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01168"/>
            <a:ext cx="301752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201168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healthplushms.com/console</a:t>
            </a:r>
            <a:endParaRPr lang="en-US" sz="600" dirty="0"/>
          </a:p>
        </p:txBody>
      </p:sp>
      <p:pic>
        <p:nvPicPr>
          <p:cNvPr id="29" name="Image 0" descr="/home/claude/screenshots/06_doctor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65760"/>
            <a:ext cx="3840480" cy="455371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074920" y="164592"/>
            <a:ext cx="3840480" cy="47548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IPD Admissions &amp; Bed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Complete inpatient department management with live bed tracking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99669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2064" y="9601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Ward types: General, ICU, Private, Emergency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80744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3441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Visual bed map — colour-coded status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64792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64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17282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Auto bed-status on admit &amp; discharge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148840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148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" y="21122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Per-bed daily pricing for billing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532888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064" y="2496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Discharge notes &amp; timestamp capture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1693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2064" y="28803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Linked to pharmacy &amp; billing modules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164592"/>
            <a:ext cx="384048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2148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76088" y="2148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4104" y="2148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01168"/>
            <a:ext cx="301752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201168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healthplushms.com/ipd</a:t>
            </a:r>
            <a:endParaRPr lang="en-US" sz="600" dirty="0"/>
          </a:p>
        </p:txBody>
      </p:sp>
      <p:pic>
        <p:nvPicPr>
          <p:cNvPr id="29" name="Image 0" descr="/home/claude/screenshots/07_ipd_admi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65760"/>
            <a:ext cx="3840480" cy="455371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074920" y="164592"/>
            <a:ext cx="3840480" cy="47548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27432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" y="736092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73609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" y="736092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722376"/>
            <a:ext cx="192024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722376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healthplushms.com/pos-terminal</a:t>
            </a:r>
            <a:endParaRPr lang="en-US" sz="600" dirty="0"/>
          </a:p>
        </p:txBody>
      </p:sp>
      <p:pic>
        <p:nvPicPr>
          <p:cNvPr id="10" name="Image 0" descr="/home/claude/screenshots/08_pharmacy_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86968"/>
            <a:ext cx="2743200" cy="29992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28600" y="685800"/>
            <a:ext cx="27432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" y="3913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</a:rPr>
              <a:t>POS Terminal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72968" y="685800"/>
            <a:ext cx="27432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736092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74136" y="73609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02152" y="736092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21608" y="722376"/>
            <a:ext cx="192024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39896" y="722376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healthplushms.com/stock-management</a:t>
            </a:r>
            <a:endParaRPr lang="en-US" sz="600" dirty="0"/>
          </a:p>
        </p:txBody>
      </p:sp>
      <p:pic>
        <p:nvPicPr>
          <p:cNvPr id="19" name="Image 1" descr="/home/claude/screenshots/09_pharmacy_st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886968"/>
            <a:ext cx="2743200" cy="299923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172968" y="685800"/>
            <a:ext cx="27432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172968" y="3913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</a:rPr>
              <a:t>Stock Management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17336" y="685800"/>
            <a:ext cx="27432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90488" y="736092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18504" y="73609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46520" y="736092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665976" y="722376"/>
            <a:ext cx="192024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84264" y="722376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healthplushms.com/purchase-orders</a:t>
            </a:r>
            <a:endParaRPr lang="en-US" sz="600" dirty="0"/>
          </a:p>
        </p:txBody>
      </p:sp>
      <p:pic>
        <p:nvPicPr>
          <p:cNvPr id="28" name="Image 2" descr="/home/claude/screenshots/13_purchase_or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886968"/>
            <a:ext cx="2743200" cy="299923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117336" y="685800"/>
            <a:ext cx="27432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117336" y="3913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</a:rPr>
              <a:t>Purchase Orders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65176" y="4334256"/>
            <a:ext cx="164592" cy="164592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65176" y="43342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484632" y="42519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Batch-level stock tracking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3209544" y="4334256"/>
            <a:ext cx="164592" cy="164592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209544" y="43342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36" name="Text 31"/>
          <p:cNvSpPr/>
          <p:nvPr/>
        </p:nvSpPr>
        <p:spPr>
          <a:xfrm>
            <a:off x="3429000" y="42519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Expiry date alerts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153912" y="4334256"/>
            <a:ext cx="164592" cy="164592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153912" y="43342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39" name="Text 34"/>
          <p:cNvSpPr/>
          <p:nvPr/>
        </p:nvSpPr>
        <p:spPr>
          <a:xfrm>
            <a:off x="6373368" y="42519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OPD + IPD linked POS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265176" y="4681728"/>
            <a:ext cx="164592" cy="164592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65176" y="4681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42" name="Text 37"/>
          <p:cNvSpPr/>
          <p:nvPr/>
        </p:nvSpPr>
        <p:spPr>
          <a:xfrm>
            <a:off x="484632" y="45994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Medicine Returns module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3209544" y="4681728"/>
            <a:ext cx="164592" cy="164592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209544" y="4681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45" name="Text 40"/>
          <p:cNvSpPr/>
          <p:nvPr/>
        </p:nvSpPr>
        <p:spPr>
          <a:xfrm>
            <a:off x="3429000" y="45994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Auto stock deduction on sale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153912" y="4681728"/>
            <a:ext cx="164592" cy="164592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153912" y="4681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48" name="Text 43"/>
          <p:cNvSpPr/>
          <p:nvPr/>
        </p:nvSpPr>
        <p:spPr>
          <a:xfrm>
            <a:off x="6373368" y="45994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</a:rPr>
              <a:t>GRN / Stock Entry workflow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GST Invoicing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Unified, GST-compliant invoicing for all revenue sources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9669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2064" y="9601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Invoices for pharmacy, OPD &amp; IPD charges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80744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3441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Auto CGST + SGST split per line item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64792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64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17282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Payment modes: Cash, Card, UPI, Insurance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148840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148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" y="21122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Invoice status: Pending → Paid → Cancelled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532888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064" y="2496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PDF invoice generation &amp; sharing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1693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2064" y="28803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Today's revenue &amp; collection dashboard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164592"/>
            <a:ext cx="384048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2148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76088" y="2148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4104" y="2148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01168"/>
            <a:ext cx="301752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201168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healthplushms.com/billing</a:t>
            </a:r>
            <a:endParaRPr lang="en-US" sz="600" dirty="0"/>
          </a:p>
        </p:txBody>
      </p:sp>
      <p:pic>
        <p:nvPicPr>
          <p:cNvPr id="29" name="Image 0" descr="/home/claude/screenshots/10_billing_in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65760"/>
            <a:ext cx="3840480" cy="455371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074920" y="164592"/>
            <a:ext cx="3840480" cy="47548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Asset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Full equipment lifecycle tracking with AMC alerts &amp; QR codes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99669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2064" y="9601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Equipment registry with serial, warranty &amp; 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80744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3441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Auto QR code generation on asset save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64792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64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17282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AMC tracker: 🟡 expiring  🔴 expired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148840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148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" y="21122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Vendor directory — shared with Pharmacy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532888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064" y="2496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Consumables stock with low-stock alerts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16936"/>
            <a:ext cx="201168" cy="20116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2064" y="28803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Maintenance log &amp; depreciation calculation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164592"/>
            <a:ext cx="384048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2148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76088" y="2148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4104" y="2148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01168"/>
            <a:ext cx="301752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201168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healthplushms.com/inventory</a:t>
            </a:r>
            <a:endParaRPr lang="en-US" sz="600" dirty="0"/>
          </a:p>
        </p:txBody>
      </p:sp>
      <p:pic>
        <p:nvPicPr>
          <p:cNvPr id="29" name="Image 0" descr="/home/claude/screenshots/11_inventory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65760"/>
            <a:ext cx="3840480" cy="455371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074920" y="164592"/>
            <a:ext cx="3840480" cy="47548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Management, Blog &amp; Reviews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16052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" y="76352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76352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" y="76352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749808"/>
            <a:ext cx="333756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749808"/>
            <a:ext cx="3300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healthplushms.com/attendance</a:t>
            </a:r>
            <a:endParaRPr lang="en-US" sz="600" dirty="0"/>
          </a:p>
        </p:txBody>
      </p:sp>
      <p:pic>
        <p:nvPicPr>
          <p:cNvPr id="10" name="Image 0" descr="/home/claude/screenshots/12_staff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0"/>
            <a:ext cx="4160520" cy="2542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28600" y="713232"/>
            <a:ext cx="416052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" y="3493008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</a:rPr>
              <a:t>Staff Attendance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28600" y="3694176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Digital clock-in/out with daily attendance log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0" y="713232"/>
            <a:ext cx="43434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5152" y="76352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73168" y="76352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01184" y="76352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20640" y="749808"/>
            <a:ext cx="3520440" cy="128016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38928" y="749808"/>
            <a:ext cx="3483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BD5E0"/>
                </a:solidFill>
              </a:rPr>
              <a:t>🔒  healthplushms.com/blog</a:t>
            </a:r>
            <a:endParaRPr lang="en-US" sz="600" dirty="0"/>
          </a:p>
        </p:txBody>
      </p:sp>
      <p:pic>
        <p:nvPicPr>
          <p:cNvPr id="20" name="Image 1" descr="/home/claude/screenshots/14_blog_repu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14400"/>
            <a:ext cx="4343400" cy="254203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572000" y="713232"/>
            <a:ext cx="434340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0" y="3493008"/>
            <a:ext cx="4343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</a:rPr>
              <a:t>Blog &amp; Patient Reviews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0" y="3694176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Health content publishing &amp; testimonial display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6032" y="3977640"/>
            <a:ext cx="2697480" cy="237744"/>
          </a:xfrm>
          <a:prstGeom prst="roundRect">
            <a:avLst>
              <a:gd name="adj" fmla="val 38462"/>
            </a:avLst>
          </a:prstGeom>
          <a:solidFill>
            <a:srgbClr val="F0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9184" y="3977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4F72"/>
                </a:solidFill>
              </a:rPr>
              <a:t>• Employee Profiles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200400" y="3977640"/>
            <a:ext cx="2697480" cy="237744"/>
          </a:xfrm>
          <a:prstGeom prst="roundRect">
            <a:avLst>
              <a:gd name="adj" fmla="val 38462"/>
            </a:avLst>
          </a:prstGeom>
          <a:solidFill>
            <a:srgbClr val="F0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73552" y="3977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4F72"/>
                </a:solidFill>
              </a:rPr>
              <a:t>• Daily Attendance Log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144768" y="3977640"/>
            <a:ext cx="2697480" cy="237744"/>
          </a:xfrm>
          <a:prstGeom prst="roundRect">
            <a:avLst>
              <a:gd name="adj" fmla="val 38462"/>
            </a:avLst>
          </a:prstGeom>
          <a:solidFill>
            <a:srgbClr val="F0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17920" y="3977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4F72"/>
                </a:solidFill>
              </a:rPr>
              <a:t>• Admin Reports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56032" y="4288536"/>
            <a:ext cx="2697480" cy="237744"/>
          </a:xfrm>
          <a:prstGeom prst="roundRect">
            <a:avLst>
              <a:gd name="adj" fmla="val 38462"/>
            </a:avLst>
          </a:prstGeom>
          <a:solidFill>
            <a:srgbClr val="F0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9184" y="42885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4F72"/>
                </a:solidFill>
              </a:rPr>
              <a:t>• Health Articles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200400" y="4288536"/>
            <a:ext cx="2697480" cy="237744"/>
          </a:xfrm>
          <a:prstGeom prst="roundRect">
            <a:avLst>
              <a:gd name="adj" fmla="val 38462"/>
            </a:avLst>
          </a:prstGeom>
          <a:solidFill>
            <a:srgbClr val="F0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73552" y="42885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4F72"/>
                </a:solidFill>
              </a:rPr>
              <a:t>• Draft/Published Workflow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144768" y="4288536"/>
            <a:ext cx="2697480" cy="237744"/>
          </a:xfrm>
          <a:prstGeom prst="roundRect">
            <a:avLst>
              <a:gd name="adj" fmla="val 38462"/>
            </a:avLst>
          </a:prstGeom>
          <a:solidFill>
            <a:srgbClr val="F0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217920" y="42885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4F72"/>
                </a:solidFill>
              </a:rPr>
              <a:t>• Patient Testimonials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C3B"/>
          </a:solidFill>
          <a:ln w="12700">
            <a:solidFill>
              <a:srgbClr val="162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69264"/>
            <a:ext cx="8686800" cy="713232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9264"/>
            <a:ext cx="54864" cy="7132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118872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C1"/>
                </a:solidFill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042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Django Templates + HTMX + Custom 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31673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</a:rPr>
              <a:t>Server-rendered HTML with dynamic partial updates — no heavy JS framework. Fast, lightweight, and accessible.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773936"/>
            <a:ext cx="8686800" cy="713232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773936"/>
            <a:ext cx="54864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01952"/>
            <a:ext cx="118872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Backend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1847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3 + Django 5.2 + Gunicorn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2121408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</a:rPr>
              <a:t>Industry-standard web framework with built-in ORM, admin, auth, and security. Gunicorn runs multi-worker WSGI in production.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578608"/>
            <a:ext cx="8686800" cy="713232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578608"/>
            <a:ext cx="54864" cy="71323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706624"/>
            <a:ext cx="118872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7066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6F1E"/>
                </a:solidFill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 15 (Docker)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292608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</a:rPr>
              <a:t>Enterprise-grade relational database. Runs in Docker for local dev, scales to AWS RDS for production.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383280"/>
            <a:ext cx="8686800" cy="713232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383280"/>
            <a:ext cx="54864" cy="71323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511296"/>
            <a:ext cx="118872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11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6D7E"/>
                </a:solidFill>
              </a:rPr>
              <a:t>PDF / QR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ReportLab + qrcode library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00200" y="3730752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</a:rPr>
              <a:t>Auto-generates prescription PDFs and equipment QR code images — triggered on model save with no manual steps.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187952"/>
            <a:ext cx="8686800" cy="713232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4187952"/>
            <a:ext cx="54864" cy="71323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315968"/>
            <a:ext cx="118872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15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2D8B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00200" y="4261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+ Nginx + AWS EC2 + GitHub Actions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00200" y="4535424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</a:rPr>
              <a:t>Dockerized services, Nginx reverse proxy, EC2 deployment. GitHub Actions CI/CD deploys every push to main branch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Pricing &amp; Packages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One-time software licence fee  •  All prices in Indian Rupees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74320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424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3350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Up to 50 beds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58191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459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449"/>
                </a:solidFill>
              </a:rPr>
              <a:t>₹ 8,00,000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28600" y="228600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77440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77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21208" y="23225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Core Modules (OPD, Portal, Blog)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624328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15768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1576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21208" y="26609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Patient Registry &amp; Records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962656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054096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5409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21208" y="29992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Appointment Booking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300984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392424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3924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21208" y="33375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Staff Attendance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639312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730752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307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1208" y="36758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Doctor Console + Prescription PDF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3977640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069080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0690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21208" y="401421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1 Year Free Support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4315968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407408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407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21208" y="43525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2 Training Sessions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99816" y="914400"/>
            <a:ext cx="2852928" cy="4187952"/>
          </a:xfrm>
          <a:prstGeom prst="rect">
            <a:avLst/>
          </a:prstGeom>
          <a:solidFill>
            <a:srgbClr val="D6EAF8"/>
          </a:solidFill>
          <a:ln w="25400">
            <a:solidFill>
              <a:srgbClr val="2E86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703320" y="786384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7863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154680" y="987552"/>
            <a:ext cx="2743200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10424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Professional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154680" y="13350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50 – 200 beds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54680" y="158191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54680" y="16459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6C1"/>
                </a:solidFill>
              </a:rPr>
              <a:t>₹ 18,00,000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3154680" y="228600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2377440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2377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447288" y="23225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Everything in Starter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54680" y="2624328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46120" y="2715768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46120" y="271576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447288" y="26609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Pharmacy POS &amp; Stock Mgmt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54680" y="2962656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46120" y="3054096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46120" y="305409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447288" y="29992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Billing &amp; GST Invoicing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154680" y="3300984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46120" y="3392424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46120" y="33924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447288" y="33375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IPD Admissions &amp; Bed Map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154680" y="3639312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46120" y="3730752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46120" y="37307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447288" y="36758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Purchase Orders &amp; GRN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154680" y="3977640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46120" y="4069080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46120" y="40690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447288" y="401421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Inventory + AMC Alerts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154680" y="4315968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46120" y="4407408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46120" y="4407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447288" y="43525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QR Code Asset Tracking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154680" y="4654296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46120" y="4745736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46120" y="47457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447288" y="46908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3 Training Sessions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080760" y="987552"/>
            <a:ext cx="27432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80760" y="10424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080760" y="13350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200+ beds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080760" y="158191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80760" y="16459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F72"/>
                </a:solidFill>
              </a:rPr>
              <a:t>Custom Quote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6080760" y="228600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172200" y="2377440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72200" y="2377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373368" y="23225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Everything in Professional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080760" y="2624328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172200" y="2715768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72200" y="271576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6373368" y="26609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Advanced Reports &amp; Analytics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080760" y="2962656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72200" y="3054096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72200" y="305409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6373368" y="29992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CI/CD Deployment Pipeline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080760" y="3300984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72200" y="3392424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72200" y="33924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6373368" y="33375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Cloud Setup (AWS EC2)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080760" y="3639312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72200" y="3730752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72200" y="37307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6373368" y="36758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Custom Branding / White-Label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080760" y="3977640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172200" y="4069080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172200" y="40690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6373368" y="401421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Lab / PACS Integration (add-on)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080760" y="4315968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172200" y="4407408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72200" y="4407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373368" y="43525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Dedicated Account Manager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080760" y="4654296"/>
            <a:ext cx="2743200" cy="320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172200" y="4745736"/>
            <a:ext cx="146304" cy="146304"/>
          </a:xfrm>
          <a:prstGeom prst="ellipse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172200" y="47457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8449"/>
                </a:solidFill>
              </a:rPr>
              <a:t>✓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6373368" y="46908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</a:rPr>
              <a:t>Priority Support (SLA)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C3B"/>
          </a:solidFill>
          <a:ln w="12700">
            <a:solidFill>
              <a:srgbClr val="162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62179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</a:rPr>
              <a:t>Total: 10 weeks from contract signing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841248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459736"/>
            <a:ext cx="256032" cy="256032"/>
          </a:xfrm>
          <a:prstGeom prst="ellipse">
            <a:avLst/>
          </a:prstGeom>
          <a:solidFill>
            <a:srgbClr val="2E86C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960120"/>
            <a:ext cx="1325880" cy="1444752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60120"/>
            <a:ext cx="132588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404872"/>
            <a:ext cx="45720" cy="155448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0698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C1"/>
                </a:solidFill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86C1"/>
                </a:solidFill>
              </a:rPr>
              <a:t>1–2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1453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Setup &amp; Core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174650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750" dirty="0">
                <a:solidFill>
                  <a:srgbClr val="AED6F1"/>
                </a:solidFill>
              </a:rPr>
              <a:t>Server (EC2), Docker, DB, Auth, Public Portal, Doctor Module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67128" y="2459736"/>
            <a:ext cx="256032" cy="256032"/>
          </a:xfrm>
          <a:prstGeom prst="ellipse">
            <a:avLst/>
          </a:prstGeom>
          <a:solidFill>
            <a:srgbClr val="1E84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01368" y="2944368"/>
            <a:ext cx="1325880" cy="16002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01368" y="2944368"/>
            <a:ext cx="1325880" cy="64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2532888"/>
            <a:ext cx="45720" cy="411480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47088" y="30540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3–4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47088" y="34381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Clinical Modules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47088" y="3730752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750" dirty="0">
                <a:solidFill>
                  <a:srgbClr val="AED6F1"/>
                </a:solidFill>
              </a:rPr>
              <a:t>Appointments, Doctor Console, Consultation, PDF Prescriptions, IPD Admissions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84448" y="2459736"/>
            <a:ext cx="256032" cy="256032"/>
          </a:xfrm>
          <a:prstGeom prst="ellipse">
            <a:avLst/>
          </a:prstGeom>
          <a:solidFill>
            <a:srgbClr val="CA6F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960120"/>
            <a:ext cx="1325880" cy="1444752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960120"/>
            <a:ext cx="1325880" cy="6400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2404872"/>
            <a:ext cx="45720" cy="155448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10698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6F1E"/>
                </a:solidFill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A6F1E"/>
                </a:solidFill>
              </a:rPr>
              <a:t>5–6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64408" y="1453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Finance &amp; Pharmacy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64408" y="174650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750" dirty="0">
                <a:solidFill>
                  <a:srgbClr val="AED6F1"/>
                </a:solidFill>
              </a:rPr>
              <a:t>Pharmacy POS &amp; Stock, Purchase Orders &amp; GRN, Billing &amp; GST Invoicing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01768" y="2459736"/>
            <a:ext cx="256032" cy="256032"/>
          </a:xfrm>
          <a:prstGeom prst="ellipse">
            <a:avLst/>
          </a:prstGeom>
          <a:solidFill>
            <a:srgbClr val="7B2D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36008" y="2944368"/>
            <a:ext cx="1325880" cy="16002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36008" y="2944368"/>
            <a:ext cx="1325880" cy="6400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2532888"/>
            <a:ext cx="45720" cy="411480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30540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2D8B"/>
                </a:solidFill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B2D8B"/>
                </a:solidFill>
              </a:rPr>
              <a:t>7–8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1728" y="34381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Operations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81728" y="3730752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750" dirty="0">
                <a:solidFill>
                  <a:srgbClr val="AED6F1"/>
                </a:solidFill>
              </a:rPr>
              <a:t>Inventory, AMC Alerts, QR Codes, Staff Attendance, Blog, Reviews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419088" y="2459736"/>
            <a:ext cx="256032" cy="256032"/>
          </a:xfrm>
          <a:prstGeom prst="ellipse">
            <a:avLst/>
          </a:prstGeom>
          <a:solidFill>
            <a:srgbClr val="5D6D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53328" y="960120"/>
            <a:ext cx="1325880" cy="1444752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53328" y="960120"/>
            <a:ext cx="1325880" cy="64008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2404872"/>
            <a:ext cx="45720" cy="155448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9048" y="10698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6D7E"/>
                </a:solidFill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5D6D7E"/>
                </a:solidFill>
              </a:rPr>
              <a:t>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99048" y="1453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Testing &amp; Training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099048" y="174650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750" dirty="0">
                <a:solidFill>
                  <a:srgbClr val="AED6F1"/>
                </a:solidFill>
              </a:rPr>
              <a:t>User Acceptance Testing, Bug Fixes, 3 Staff Training Sessions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836408" y="2459736"/>
            <a:ext cx="256032" cy="256032"/>
          </a:xfrm>
          <a:prstGeom prst="ellipse">
            <a:avLst/>
          </a:prstGeom>
          <a:solidFill>
            <a:srgbClr val="1B4F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70648" y="2944368"/>
            <a:ext cx="1325880" cy="1600200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70648" y="2944368"/>
            <a:ext cx="132588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92440" y="2532888"/>
            <a:ext cx="45720" cy="411480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16368" y="30540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16368" y="34381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Go-Live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516368" y="3730752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750" dirty="0">
                <a:solidFill>
                  <a:srgbClr val="AED6F1"/>
                </a:solidFill>
              </a:rPr>
              <a:t>Production Deployment, CI/CD Pipeline, Handover Documentation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C3B"/>
          </a:solidFill>
          <a:ln w="12700">
            <a:solidFill>
              <a:srgbClr val="162C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631936" cy="676656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05840"/>
            <a:ext cx="512064" cy="67665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05840"/>
            <a:ext cx="5120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Schedule a Live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13533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</a:rPr>
              <a:t>We walk through every module with your team — typically 2 hours. You see the actual system, ask questions, and evaluate fit.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783080"/>
            <a:ext cx="8631936" cy="676656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783080"/>
            <a:ext cx="512064" cy="6766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83080"/>
            <a:ext cx="5120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Your Package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" y="21305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</a:rPr>
              <a:t>Choose Starter, Professional, or Enterprise based on your bed count and required modules. We can customise any tier.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560320"/>
            <a:ext cx="8631936" cy="676656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560320"/>
            <a:ext cx="512064" cy="676656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560320"/>
            <a:ext cx="5120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 &amp; Advance Payment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29077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</a:rPr>
              <a:t>Execute the Software Development Agreement and process 30% advance. This locks in your timeline and dedicated developer.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337560"/>
            <a:ext cx="8631936" cy="676656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337560"/>
            <a:ext cx="512064" cy="67665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337560"/>
            <a:ext cx="5120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Migration Planning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9536" y="36850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</a:rPr>
              <a:t>Share your existing doctor list, patient records, and medicine catalogue. We plan the migration and kickoff the project.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4114800"/>
            <a:ext cx="8631936" cy="676656"/>
          </a:xfrm>
          <a:prstGeom prst="rect">
            <a:avLst/>
          </a:prstGeom>
          <a:solidFill>
            <a:srgbClr val="162C3B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4114800"/>
            <a:ext cx="512064" cy="6766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114800"/>
            <a:ext cx="5120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9536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10-Week Delivery &amp; Go-Live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" y="446227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</a:rPr>
              <a:t>Phased delivery with weekly milestones. Your team is trained and the system goes live at the end of Week 10.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828032"/>
            <a:ext cx="8631936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82803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📧 sales@healthplushms.com   •   📞 +91 98765 43210   •   🌐 www.healthplushms.com   •   Proposal valid for 30 days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1747</Words>
  <Application>Microsoft Macintosh PowerPoint</Application>
  <PresentationFormat>On-screen Show (16:9)</PresentationFormat>
  <Paragraphs>436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HealthPlus HMS — Client Proposal</dc:title>
  <dc:subject>PptxGenJS Presentation</dc:subject>
  <dc:creator>HealthPlus Development Team</dc:creator>
  <cp:lastModifiedBy>Balasubramaniam R.K</cp:lastModifiedBy>
  <cp:revision>1</cp:revision>
  <dcterms:created xsi:type="dcterms:W3CDTF">2026-03-15T11:53:15Z</dcterms:created>
  <dcterms:modified xsi:type="dcterms:W3CDTF">2026-03-15T12:00:50Z</dcterms:modified>
</cp:coreProperties>
</file>